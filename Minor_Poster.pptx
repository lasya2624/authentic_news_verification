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43891200" cy="21945600"/>
  <p:notesSz cx="7004050" cy="9283700"/>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6912">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4"/>
    <a:srgbClr val="0066FF"/>
    <a:srgbClr val="6699FF"/>
    <a:srgbClr val="3399FF"/>
    <a:srgbClr val="640021"/>
    <a:srgbClr val="003A74"/>
    <a:srgbClr val="FFFF66"/>
    <a:srgbClr val="366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7" autoAdjust="0"/>
    <p:restoredTop sz="94676" autoAdjust="0"/>
  </p:normalViewPr>
  <p:slideViewPr>
    <p:cSldViewPr>
      <p:cViewPr>
        <p:scale>
          <a:sx n="33" d="100"/>
          <a:sy n="33" d="100"/>
        </p:scale>
        <p:origin x="-691" y="-662"/>
      </p:cViewPr>
      <p:guideLst>
        <p:guide orient="horz" pos="6912"/>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Instructions"/>
          <p:cNvSpPr/>
          <p:nvPr userDrawn="1"/>
        </p:nvSpPr>
        <p:spPr>
          <a:xfrm>
            <a:off x="-7498080" y="0"/>
            <a:ext cx="6949440" cy="21945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6893" tIns="146893" rIns="146893" bIns="146893"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544"/>
              </a:spcAft>
            </a:pPr>
            <a:r>
              <a:rPr lang="en-US" sz="5400" dirty="0">
                <a:solidFill>
                  <a:srgbClr val="7F7F7F"/>
                </a:solidFill>
                <a:latin typeface="Calibri" pitchFamily="34" charset="0"/>
                <a:cs typeface="Calibri" panose="020F0502020204030204" pitchFamily="34" charset="0"/>
              </a:rPr>
              <a:t>Poster Print Size:</a:t>
            </a:r>
            <a:endParaRPr sz="5400" dirty="0">
              <a:solidFill>
                <a:srgbClr val="7F7F7F"/>
              </a:solidFill>
              <a:latin typeface="Calibri" pitchFamily="34" charset="0"/>
              <a:cs typeface="Calibri" panose="020F0502020204030204" pitchFamily="34" charset="0"/>
            </a:endParaRPr>
          </a:p>
          <a:p>
            <a:pPr lvl="0">
              <a:spcBef>
                <a:spcPts val="0"/>
              </a:spcBef>
              <a:spcAft>
                <a:spcPts val="1544"/>
              </a:spcAft>
            </a:pPr>
            <a:r>
              <a:rPr lang="en-US" sz="3200" dirty="0">
                <a:solidFill>
                  <a:srgbClr val="7F7F7F"/>
                </a:solidFill>
                <a:latin typeface="Calibri" pitchFamily="34" charset="0"/>
                <a:cs typeface="Calibri" panose="020F0502020204030204" pitchFamily="34" charset="0"/>
              </a:rPr>
              <a:t>This poster template is 24” high by 48” wide .</a:t>
            </a:r>
            <a:r>
              <a:rPr lang="en-US" sz="3200" baseline="0" dirty="0">
                <a:solidFill>
                  <a:srgbClr val="7F7F7F"/>
                </a:solidFill>
                <a:latin typeface="Calibri" pitchFamily="34" charset="0"/>
                <a:cs typeface="Calibri" panose="020F0502020204030204" pitchFamily="34" charset="0"/>
              </a:rPr>
              <a:t> </a:t>
            </a:r>
            <a:r>
              <a:rPr lang="en-US" sz="3200" dirty="0">
                <a:solidFill>
                  <a:srgbClr val="7F7F7F"/>
                </a:solidFill>
                <a:latin typeface="Calibri" pitchFamily="34" charset="0"/>
                <a:cs typeface="Calibri" panose="020F0502020204030204" pitchFamily="34" charset="0"/>
              </a:rPr>
              <a:t>It can be used to print any poster with a 1:2 aspect ratio including 30x60, 36x72, 42x84, and 48x96. </a:t>
            </a:r>
          </a:p>
          <a:p>
            <a:pPr lvl="0">
              <a:spcBef>
                <a:spcPts val="0"/>
              </a:spcBef>
              <a:spcAft>
                <a:spcPts val="1544"/>
              </a:spcAft>
            </a:pPr>
            <a:r>
              <a:rPr lang="en-US" sz="5400" dirty="0">
                <a:solidFill>
                  <a:srgbClr val="7F7F7F"/>
                </a:solidFill>
                <a:latin typeface="Calibri" pitchFamily="34" charset="0"/>
                <a:cs typeface="Calibri" panose="020F0502020204030204" pitchFamily="34" charset="0"/>
              </a:rPr>
              <a:t>Placeholders</a:t>
            </a:r>
            <a:r>
              <a:rPr sz="5400" dirty="0">
                <a:solidFill>
                  <a:srgbClr val="7F7F7F"/>
                </a:solidFill>
                <a:latin typeface="Calibri" pitchFamily="34" charset="0"/>
                <a:cs typeface="Calibri" panose="020F0502020204030204" pitchFamily="34" charset="0"/>
              </a:rPr>
              <a:t>:</a:t>
            </a:r>
          </a:p>
          <a:p>
            <a:pPr lvl="0">
              <a:spcBef>
                <a:spcPts val="0"/>
              </a:spcBef>
              <a:spcAft>
                <a:spcPts val="1544"/>
              </a:spcAft>
            </a:pPr>
            <a:r>
              <a:rPr sz="3200" dirty="0">
                <a:solidFill>
                  <a:srgbClr val="7F7F7F"/>
                </a:solidFill>
                <a:latin typeface="Calibri" pitchFamily="34" charset="0"/>
                <a:cs typeface="Calibri" panose="020F0502020204030204" pitchFamily="34" charset="0"/>
              </a:rPr>
              <a:t>The </a:t>
            </a:r>
            <a:r>
              <a:rPr lang="en-US" sz="3200" dirty="0">
                <a:solidFill>
                  <a:srgbClr val="7F7F7F"/>
                </a:solidFill>
                <a:latin typeface="Calibri" pitchFamily="34" charset="0"/>
                <a:cs typeface="Calibri" panose="020F0502020204030204" pitchFamily="34" charset="0"/>
              </a:rPr>
              <a:t>various elements included</a:t>
            </a:r>
            <a:r>
              <a:rPr sz="3200" dirty="0">
                <a:solidFill>
                  <a:srgbClr val="7F7F7F"/>
                </a:solidFill>
                <a:latin typeface="Calibri" pitchFamily="34" charset="0"/>
                <a:cs typeface="Calibri" panose="020F0502020204030204" pitchFamily="34" charset="0"/>
              </a:rPr>
              <a:t> in this </a:t>
            </a:r>
            <a:r>
              <a:rPr lang="en-US" sz="3200" dirty="0">
                <a:solidFill>
                  <a:srgbClr val="7F7F7F"/>
                </a:solidFill>
                <a:latin typeface="Calibri" pitchFamily="34" charset="0"/>
                <a:cs typeface="Calibri" panose="020F0502020204030204" pitchFamily="34" charset="0"/>
              </a:rPr>
              <a:t>poster are ones</a:t>
            </a:r>
            <a:r>
              <a:rPr lang="en-US" sz="3200" baseline="0" dirty="0">
                <a:solidFill>
                  <a:srgbClr val="7F7F7F"/>
                </a:solidFill>
                <a:latin typeface="Calibri" pitchFamily="34" charset="0"/>
                <a:cs typeface="Calibri" panose="020F0502020204030204" pitchFamily="34" charset="0"/>
              </a:rPr>
              <a:t> we often see in medical, research, and scientific posters.</a:t>
            </a:r>
            <a:r>
              <a:rPr sz="3200" dirty="0">
                <a:solidFill>
                  <a:srgbClr val="7F7F7F"/>
                </a:solidFill>
                <a:latin typeface="Calibri" pitchFamily="34" charset="0"/>
                <a:cs typeface="Calibri" panose="020F0502020204030204" pitchFamily="34" charset="0"/>
              </a:rPr>
              <a:t> </a:t>
            </a:r>
            <a:r>
              <a:rPr lang="en-US" sz="3200" dirty="0">
                <a:solidFill>
                  <a:srgbClr val="7F7F7F"/>
                </a:solidFill>
                <a:latin typeface="Calibri" pitchFamily="34" charset="0"/>
                <a:cs typeface="Calibri" panose="020F0502020204030204" pitchFamily="34" charset="0"/>
              </a:rPr>
              <a:t>Feel</a:t>
            </a:r>
            <a:r>
              <a:rPr lang="en-US" sz="32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544"/>
              </a:spcAft>
            </a:pPr>
            <a:r>
              <a:rPr lang="en-US" sz="5400" dirty="0">
                <a:solidFill>
                  <a:srgbClr val="7F7F7F"/>
                </a:solidFill>
                <a:latin typeface="Calibri" pitchFamily="34" charset="0"/>
                <a:cs typeface="Calibri" panose="020F0502020204030204" pitchFamily="34" charset="0"/>
              </a:rPr>
              <a:t>Image</a:t>
            </a:r>
            <a:r>
              <a:rPr lang="en-US" sz="5400" baseline="0" dirty="0">
                <a:solidFill>
                  <a:srgbClr val="7F7F7F"/>
                </a:solidFill>
                <a:latin typeface="Calibri" pitchFamily="34" charset="0"/>
                <a:cs typeface="Calibri" panose="020F0502020204030204" pitchFamily="34" charset="0"/>
              </a:rPr>
              <a:t> Quality</a:t>
            </a:r>
            <a:r>
              <a:rPr lang="en-US" sz="5400" dirty="0">
                <a:solidFill>
                  <a:srgbClr val="7F7F7F"/>
                </a:solidFill>
                <a:latin typeface="Calibri" pitchFamily="34" charset="0"/>
                <a:cs typeface="Calibri" panose="020F0502020204030204" pitchFamily="34" charset="0"/>
              </a:rPr>
              <a:t>:</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You can place digital photos or logo art in your poster file by selecting the </a:t>
            </a:r>
            <a:r>
              <a:rPr lang="en-US" sz="3200" b="1" dirty="0">
                <a:solidFill>
                  <a:srgbClr val="7F7F7F"/>
                </a:solidFill>
                <a:latin typeface="Calibri" pitchFamily="34" charset="0"/>
                <a:cs typeface="Calibri" panose="020F0502020204030204" pitchFamily="34" charset="0"/>
              </a:rPr>
              <a:t>Insert, Picture</a:t>
            </a:r>
            <a:r>
              <a:rPr lang="en-US" sz="32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3200" b="1" dirty="0">
                <a:solidFill>
                  <a:srgbClr val="7F7F7F"/>
                </a:solidFill>
                <a:latin typeface="Calibri" pitchFamily="34" charset="0"/>
                <a:cs typeface="Calibri" panose="020F0502020204030204" pitchFamily="34" charset="0"/>
              </a:rPr>
              <a:t>150-200 pixels per inch in their final printed size</a:t>
            </a:r>
            <a:r>
              <a:rPr lang="en-US" sz="3200" dirty="0">
                <a:solidFill>
                  <a:srgbClr val="7F7F7F"/>
                </a:solidFill>
                <a:latin typeface="Calibri" pitchFamily="34" charset="0"/>
                <a:cs typeface="Calibri" panose="020F0502020204030204" pitchFamily="34" charset="0"/>
              </a:rPr>
              <a:t>. For instance, a 1600 x 1200 pixel</a:t>
            </a:r>
            <a:r>
              <a:rPr lang="en-US" sz="3200" baseline="0" dirty="0">
                <a:solidFill>
                  <a:srgbClr val="7F7F7F"/>
                </a:solidFill>
                <a:latin typeface="Calibri" pitchFamily="34" charset="0"/>
                <a:cs typeface="Calibri" panose="020F0502020204030204" pitchFamily="34" charset="0"/>
              </a:rPr>
              <a:t> photo will usually look fine up to </a:t>
            </a:r>
            <a:r>
              <a:rPr lang="en-US" sz="3200" dirty="0">
                <a:solidFill>
                  <a:srgbClr val="7F7F7F"/>
                </a:solidFill>
                <a:latin typeface="Calibri" pitchFamily="34" charset="0"/>
                <a:cs typeface="Calibri" panose="020F0502020204030204" pitchFamily="34" charset="0"/>
              </a:rPr>
              <a:t>8“-10” wide on your printed poster.</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544"/>
              </a:spcAft>
            </a:pPr>
            <a:br>
              <a:rPr lang="en-US" sz="2800" dirty="0">
                <a:solidFill>
                  <a:srgbClr val="7F7F7F"/>
                </a:solidFill>
                <a:latin typeface="Calibri" pitchFamily="34" charset="0"/>
                <a:cs typeface="Calibri" panose="020F0502020204030204" pitchFamily="34" charset="0"/>
              </a:rPr>
            </a:br>
            <a:r>
              <a:rPr lang="en-US" sz="2800" dirty="0">
                <a:solidFill>
                  <a:srgbClr val="7F7F7F"/>
                </a:solidFill>
                <a:latin typeface="Calibri" pitchFamily="34" charset="0"/>
                <a:cs typeface="Calibri" panose="020F0502020204030204" pitchFamily="34" charset="0"/>
              </a:rPr>
              <a:t>[This sidebar area does not print.]</a:t>
            </a:r>
          </a:p>
        </p:txBody>
      </p:sp>
      <p:grpSp>
        <p:nvGrpSpPr>
          <p:cNvPr id="5" name="Group 4"/>
          <p:cNvGrpSpPr/>
          <p:nvPr userDrawn="1"/>
        </p:nvGrpSpPr>
        <p:grpSpPr>
          <a:xfrm>
            <a:off x="44439840" y="0"/>
            <a:ext cx="6949440" cy="21945600"/>
            <a:chOff x="33832800" y="0"/>
            <a:chExt cx="12801600" cy="43891200"/>
          </a:xfrm>
        </p:grpSpPr>
        <p:sp>
          <p:nvSpPr>
            <p:cNvPr id="6"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544"/>
                </a:spcAft>
              </a:pPr>
              <a:r>
                <a:rPr lang="en-US" sz="5400" dirty="0">
                  <a:solidFill>
                    <a:schemeClr val="bg1">
                      <a:lumMod val="50000"/>
                    </a:schemeClr>
                  </a:solidFill>
                  <a:latin typeface="Calibri" pitchFamily="34" charset="0"/>
                  <a:cs typeface="Calibri" panose="020F0502020204030204" pitchFamily="34" charset="0"/>
                </a:rPr>
                <a:t>Change</a:t>
              </a:r>
              <a:r>
                <a:rPr lang="en-US" sz="5400" baseline="0" dirty="0">
                  <a:solidFill>
                    <a:schemeClr val="bg1">
                      <a:lumMod val="50000"/>
                    </a:schemeClr>
                  </a:solidFill>
                  <a:latin typeface="Calibri" pitchFamily="34" charset="0"/>
                  <a:cs typeface="Calibri" panose="020F0502020204030204" pitchFamily="34" charset="0"/>
                </a:rPr>
                <a:t> Color Theme</a:t>
              </a:r>
              <a:r>
                <a:rPr lang="en-US" sz="5400" dirty="0">
                  <a:solidFill>
                    <a:schemeClr val="bg1">
                      <a:lumMod val="50000"/>
                    </a:schemeClr>
                  </a:solidFill>
                  <a:latin typeface="Calibri" pitchFamily="34" charset="0"/>
                  <a:cs typeface="Calibri" panose="020F0502020204030204" pitchFamily="34" charset="0"/>
                </a:rPr>
                <a:t>:</a:t>
              </a:r>
              <a:endParaRPr sz="540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r>
                <a:rPr lang="en-US" sz="32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32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To change the color theme, select the </a:t>
              </a:r>
              <a:r>
                <a:rPr lang="en-US" sz="3200" b="1" baseline="0" dirty="0">
                  <a:solidFill>
                    <a:schemeClr val="bg1">
                      <a:lumMod val="50000"/>
                    </a:schemeClr>
                  </a:solidFill>
                  <a:latin typeface="Calibri" pitchFamily="34" charset="0"/>
                  <a:cs typeface="Calibri" panose="020F0502020204030204" pitchFamily="34" charset="0"/>
                </a:rPr>
                <a:t>Design</a:t>
              </a:r>
              <a:r>
                <a:rPr lang="en-US" sz="3200" baseline="0" dirty="0">
                  <a:solidFill>
                    <a:schemeClr val="bg1">
                      <a:lumMod val="50000"/>
                    </a:schemeClr>
                  </a:solidFill>
                  <a:latin typeface="Calibri" pitchFamily="34" charset="0"/>
                  <a:cs typeface="Calibri" panose="020F0502020204030204" pitchFamily="34" charset="0"/>
                </a:rPr>
                <a:t> tab, then select the </a:t>
              </a:r>
              <a:r>
                <a:rPr lang="en-US" sz="3200" b="1" baseline="0" dirty="0">
                  <a:solidFill>
                    <a:schemeClr val="bg1">
                      <a:lumMod val="50000"/>
                    </a:schemeClr>
                  </a:solidFill>
                  <a:latin typeface="Calibri" pitchFamily="34" charset="0"/>
                  <a:cs typeface="Calibri" panose="020F0502020204030204" pitchFamily="34" charset="0"/>
                </a:rPr>
                <a:t>Colors</a:t>
              </a:r>
              <a:r>
                <a:rPr lang="en-US" sz="32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544"/>
                </a:spcAft>
              </a:pPr>
              <a:r>
                <a:rPr lang="en-US" sz="54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544"/>
                </a:spcAft>
              </a:pPr>
              <a:r>
                <a:rPr lang="en-US" sz="3200" dirty="0">
                  <a:solidFill>
                    <a:schemeClr val="bg1">
                      <a:lumMod val="50000"/>
                    </a:schemeClr>
                  </a:solidFill>
                  <a:latin typeface="Calibri" pitchFamily="34" charset="0"/>
                  <a:cs typeface="Calibri" panose="020F0502020204030204" pitchFamily="34" charset="0"/>
                </a:rPr>
                <a:t>Once your poster file is ready, visit</a:t>
              </a:r>
              <a:r>
                <a:rPr lang="en-US" sz="3200" baseline="0" dirty="0">
                  <a:solidFill>
                    <a:schemeClr val="bg1">
                      <a:lumMod val="50000"/>
                    </a:schemeClr>
                  </a:solidFill>
                  <a:latin typeface="Calibri" pitchFamily="34" charset="0"/>
                  <a:cs typeface="Calibri" panose="020F0502020204030204" pitchFamily="34" charset="0"/>
                </a:rPr>
                <a:t> </a:t>
              </a:r>
              <a:r>
                <a:rPr lang="en-US" sz="3200" b="1" baseline="0" dirty="0">
                  <a:solidFill>
                    <a:schemeClr val="bg1">
                      <a:lumMod val="50000"/>
                    </a:schemeClr>
                  </a:solidFill>
                  <a:latin typeface="Calibri" pitchFamily="34" charset="0"/>
                  <a:cs typeface="Calibri" panose="020F0502020204030204" pitchFamily="34" charset="0"/>
                </a:rPr>
                <a:t>www.genigraphics.com</a:t>
              </a:r>
              <a:r>
                <a:rPr lang="en-US" sz="32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32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3200" baseline="0" dirty="0">
                  <a:solidFill>
                    <a:schemeClr val="bg1">
                      <a:lumMod val="50000"/>
                    </a:schemeClr>
                  </a:solidFill>
                  <a:latin typeface="Calibri" pitchFamily="34" charset="0"/>
                  <a:cs typeface="Calibri" panose="020F0502020204030204" pitchFamily="34" charset="0"/>
                </a:rPr>
                <a:t>US and Canada:  1-800-790-4001</a:t>
              </a:r>
              <a:br>
                <a:rPr lang="en-US" sz="3200" baseline="0" dirty="0">
                  <a:solidFill>
                    <a:schemeClr val="bg1">
                      <a:lumMod val="50000"/>
                    </a:schemeClr>
                  </a:solidFill>
                  <a:latin typeface="Calibri" pitchFamily="34" charset="0"/>
                  <a:cs typeface="Calibri" panose="020F0502020204030204" pitchFamily="34" charset="0"/>
                </a:rPr>
              </a:br>
              <a:r>
                <a:rPr lang="en-US" sz="32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2800" dirty="0">
                  <a:solidFill>
                    <a:schemeClr val="bg1">
                      <a:lumMod val="50000"/>
                    </a:schemeClr>
                  </a:solidFill>
                  <a:latin typeface="Calibri" pitchFamily="34" charset="0"/>
                  <a:cs typeface="Calibri" panose="020F0502020204030204" pitchFamily="34" charset="0"/>
                </a:rPr>
              </a:br>
              <a:r>
                <a:rPr lang="en-US" sz="2800" dirty="0">
                  <a:solidFill>
                    <a:schemeClr val="bg1">
                      <a:lumMod val="50000"/>
                    </a:schemeClr>
                  </a:solidFill>
                  <a:latin typeface="Calibri" pitchFamily="34" charset="0"/>
                  <a:cs typeface="Calibri" panose="020F0502020204030204" pitchFamily="34" charset="0"/>
                </a:rPr>
                <a:t>[This sidebar area does not print.]</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107874"/>
              <a:ext cx="11904515" cy="10246926"/>
            </a:xfrm>
            <a:prstGeom prst="rect">
              <a:avLst/>
            </a:prstGeom>
          </p:spPr>
        </p:pic>
      </p:grpSp>
    </p:spTree>
    <p:extLst>
      <p:ext uri="{BB962C8B-B14F-4D97-AF65-F5344CB8AC3E}">
        <p14:creationId xmlns:p14="http://schemas.microsoft.com/office/powerpoint/2010/main" val="1804847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3656013"/>
            <a:ext cx="7313613" cy="18281650"/>
          </a:xfrm>
          <a:prstGeom prst="rect">
            <a:avLst/>
          </a:prstGeom>
          <a:solidFill>
            <a:schemeClr val="accent1">
              <a:lumMod val="75000"/>
            </a:schemeClr>
          </a:solidFill>
          <a:ln>
            <a:noFill/>
          </a:ln>
          <a:effectLst/>
        </p:spPr>
        <p:txBody>
          <a:bodyPr wrap="none" lIns="457200" tIns="228600" rIns="457200" bIns="457200"/>
          <a:lstStyle/>
          <a:p>
            <a:pPr algn="ctr" defTabSz="4389438"/>
            <a:endParaRPr lang="en-US" sz="4800" dirty="0">
              <a:latin typeface="Calibri" pitchFamily="34" charset="0"/>
            </a:endParaRPr>
          </a:p>
        </p:txBody>
      </p:sp>
      <p:sp>
        <p:nvSpPr>
          <p:cNvPr id="1032" name="Rectangle 8"/>
          <p:cNvSpPr>
            <a:spLocks noChangeArrowheads="1"/>
          </p:cNvSpPr>
          <p:nvPr userDrawn="1"/>
        </p:nvSpPr>
        <p:spPr bwMode="auto">
          <a:xfrm>
            <a:off x="7312025" y="0"/>
            <a:ext cx="36564888" cy="3656013"/>
          </a:xfrm>
          <a:prstGeom prst="rect">
            <a:avLst/>
          </a:prstGeom>
          <a:solidFill>
            <a:schemeClr val="accent1">
              <a:lumMod val="75000"/>
            </a:schemeClr>
          </a:solidFill>
          <a:ln>
            <a:noFill/>
          </a:ln>
          <a:effectLst/>
        </p:spPr>
        <p:txBody>
          <a:bodyPr wrap="none" lIns="457200" tIns="457200" rIns="457200" bIns="457200"/>
          <a:lstStyle/>
          <a:p>
            <a:endParaRPr lang="en-US" dirty="0">
              <a:latin typeface="Calibri" pitchFamily="34" charset="0"/>
            </a:endParaRPr>
          </a:p>
        </p:txBody>
      </p:sp>
      <p:sp>
        <p:nvSpPr>
          <p:cNvPr id="1033" name="Rectangle 9"/>
          <p:cNvSpPr>
            <a:spLocks noChangeArrowheads="1"/>
          </p:cNvSpPr>
          <p:nvPr userDrawn="1"/>
        </p:nvSpPr>
        <p:spPr bwMode="auto">
          <a:xfrm>
            <a:off x="7312025" y="3656013"/>
            <a:ext cx="36564888" cy="18281650"/>
          </a:xfrm>
          <a:prstGeom prst="rect">
            <a:avLst/>
          </a:prstGeom>
          <a:solidFill>
            <a:schemeClr val="bg2"/>
          </a:solidFill>
          <a:ln>
            <a:noFill/>
          </a:ln>
          <a:effectLst/>
        </p:spPr>
        <p:txBody>
          <a:bodyPr wrap="none" lIns="457200" tIns="457200" rIns="457200" bIns="457200"/>
          <a:lstStyle/>
          <a:p>
            <a:endParaRPr lang="en-US" dirty="0">
              <a:latin typeface="Calibri" pitchFamily="34" charset="0"/>
            </a:endParaRPr>
          </a:p>
        </p:txBody>
      </p:sp>
      <p:sp>
        <p:nvSpPr>
          <p:cNvPr id="1035" name="Line 11"/>
          <p:cNvSpPr>
            <a:spLocks noChangeShapeType="1"/>
          </p:cNvSpPr>
          <p:nvPr userDrawn="1"/>
        </p:nvSpPr>
        <p:spPr bwMode="auto">
          <a:xfrm>
            <a:off x="7312025" y="0"/>
            <a:ext cx="0" cy="2193925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sp>
        <p:nvSpPr>
          <p:cNvPr id="1036" name="Line 12"/>
          <p:cNvSpPr>
            <a:spLocks noChangeShapeType="1"/>
          </p:cNvSpPr>
          <p:nvPr userDrawn="1"/>
        </p:nvSpPr>
        <p:spPr bwMode="auto">
          <a:xfrm>
            <a:off x="0" y="3657600"/>
            <a:ext cx="43876913"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404800" y="21640800"/>
            <a:ext cx="5297435" cy="1859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438" rtl="0" fontAlgn="base">
        <a:spcBef>
          <a:spcPct val="0"/>
        </a:spcBef>
        <a:spcAft>
          <a:spcPct val="0"/>
        </a:spcAft>
        <a:defRPr sz="21100">
          <a:solidFill>
            <a:schemeClr val="tx2"/>
          </a:solidFill>
          <a:latin typeface="+mj-lt"/>
          <a:ea typeface="+mj-ea"/>
          <a:cs typeface="+mj-cs"/>
        </a:defRPr>
      </a:lvl1pPr>
      <a:lvl2pPr algn="ctr" defTabSz="4389438" rtl="0" fontAlgn="base">
        <a:spcBef>
          <a:spcPct val="0"/>
        </a:spcBef>
        <a:spcAft>
          <a:spcPct val="0"/>
        </a:spcAft>
        <a:defRPr sz="21100">
          <a:solidFill>
            <a:schemeClr val="tx2"/>
          </a:solidFill>
          <a:latin typeface="Arial" charset="0"/>
        </a:defRPr>
      </a:lvl2pPr>
      <a:lvl3pPr algn="ctr" defTabSz="4389438" rtl="0" fontAlgn="base">
        <a:spcBef>
          <a:spcPct val="0"/>
        </a:spcBef>
        <a:spcAft>
          <a:spcPct val="0"/>
        </a:spcAft>
        <a:defRPr sz="21100">
          <a:solidFill>
            <a:schemeClr val="tx2"/>
          </a:solidFill>
          <a:latin typeface="Arial" charset="0"/>
        </a:defRPr>
      </a:lvl3pPr>
      <a:lvl4pPr algn="ctr" defTabSz="4389438" rtl="0" fontAlgn="base">
        <a:spcBef>
          <a:spcPct val="0"/>
        </a:spcBef>
        <a:spcAft>
          <a:spcPct val="0"/>
        </a:spcAft>
        <a:defRPr sz="21100">
          <a:solidFill>
            <a:schemeClr val="tx2"/>
          </a:solidFill>
          <a:latin typeface="Arial" charset="0"/>
        </a:defRPr>
      </a:lvl4pPr>
      <a:lvl5pPr algn="ctr" defTabSz="4389438" rtl="0" fontAlgn="base">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fontAlgn="base">
        <a:spcBef>
          <a:spcPct val="20000"/>
        </a:spcBef>
        <a:spcAft>
          <a:spcPct val="0"/>
        </a:spcAft>
        <a:buChar char="•"/>
        <a:defRPr sz="15400">
          <a:solidFill>
            <a:schemeClr val="tx1"/>
          </a:solidFill>
          <a:latin typeface="+mn-lt"/>
          <a:ea typeface="+mn-ea"/>
          <a:cs typeface="+mn-cs"/>
        </a:defRPr>
      </a:lvl1pPr>
      <a:lvl2pPr marL="3565525" indent="-1371600" algn="l" defTabSz="4389438" rtl="0" fontAlgn="base">
        <a:spcBef>
          <a:spcPct val="20000"/>
        </a:spcBef>
        <a:spcAft>
          <a:spcPct val="0"/>
        </a:spcAft>
        <a:buChar char="–"/>
        <a:defRPr sz="13400">
          <a:solidFill>
            <a:schemeClr val="tx1"/>
          </a:solidFill>
          <a:latin typeface="+mn-lt"/>
        </a:defRPr>
      </a:lvl2pPr>
      <a:lvl3pPr marL="5486400" indent="-1096963" algn="l" defTabSz="4389438" rtl="0" fontAlgn="base">
        <a:spcBef>
          <a:spcPct val="20000"/>
        </a:spcBef>
        <a:spcAft>
          <a:spcPct val="0"/>
        </a:spcAft>
        <a:buChar char="•"/>
        <a:defRPr sz="11500">
          <a:solidFill>
            <a:schemeClr val="tx1"/>
          </a:solidFill>
          <a:latin typeface="+mn-lt"/>
        </a:defRPr>
      </a:lvl3pPr>
      <a:lvl4pPr marL="7680325" indent="-1096963" algn="l" defTabSz="4389438" rtl="0" fontAlgn="base">
        <a:spcBef>
          <a:spcPct val="20000"/>
        </a:spcBef>
        <a:spcAft>
          <a:spcPct val="0"/>
        </a:spcAft>
        <a:buChar char="–"/>
        <a:defRPr sz="9600">
          <a:solidFill>
            <a:schemeClr val="tx1"/>
          </a:solidFill>
          <a:latin typeface="+mn-lt"/>
        </a:defRPr>
      </a:lvl4pPr>
      <a:lvl5pPr marL="9875838" indent="-1096963" algn="l" defTabSz="4389438" rtl="0" fontAlgn="base">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 name="Text Box 122"/>
          <p:cNvSpPr txBox="1">
            <a:spLocks noChangeArrowheads="1"/>
          </p:cNvSpPr>
          <p:nvPr/>
        </p:nvSpPr>
        <p:spPr bwMode="auto">
          <a:xfrm>
            <a:off x="7312025" y="0"/>
            <a:ext cx="3656488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6600" b="1" dirty="0">
                <a:solidFill>
                  <a:schemeClr val="bg1"/>
                </a:solidFill>
                <a:latin typeface="Verdana" panose="020B0604030504040204" pitchFamily="34" charset="0"/>
                <a:ea typeface="Verdana" panose="020B0604030504040204" pitchFamily="34" charset="0"/>
              </a:rPr>
              <a:t>Design and Development of Automatic Authentic News Feed System</a:t>
            </a:r>
          </a:p>
        </p:txBody>
      </p:sp>
      <p:sp>
        <p:nvSpPr>
          <p:cNvPr id="2171" name="Text Box 123"/>
          <p:cNvSpPr txBox="1">
            <a:spLocks noChangeArrowheads="1"/>
          </p:cNvSpPr>
          <p:nvPr/>
        </p:nvSpPr>
        <p:spPr bwMode="auto">
          <a:xfrm>
            <a:off x="7326312" y="1511792"/>
            <a:ext cx="3656488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3200" dirty="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Department of Information Technology</a:t>
            </a:r>
          </a:p>
          <a:p>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                         School of Computing</a:t>
            </a:r>
          </a:p>
          <a:p>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                10214IT601 – MINOR PROJECT</a:t>
            </a:r>
          </a:p>
          <a:p>
            <a:r>
              <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rPr>
              <a:t>                     SUMMER </a:t>
            </a:r>
            <a:r>
              <a:rPr lang="en-US" sz="3200" b="1">
                <a:solidFill>
                  <a:schemeClr val="bg1"/>
                </a:solidFill>
                <a:latin typeface="Verdana" panose="020B0604030504040204" pitchFamily="34" charset="0"/>
                <a:ea typeface="Verdana" panose="020B0604030504040204" pitchFamily="34" charset="0"/>
                <a:cs typeface="Verdana" panose="020B0604030504040204" pitchFamily="34" charset="0"/>
              </a:rPr>
              <a:t>SEMESTER 25-26</a:t>
            </a:r>
            <a:endParaRPr lang="en-US" sz="3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2178" name="Text Box 130"/>
          <p:cNvSpPr txBox="1">
            <a:spLocks noChangeArrowheads="1"/>
          </p:cNvSpPr>
          <p:nvPr/>
        </p:nvSpPr>
        <p:spPr bwMode="auto">
          <a:xfrm>
            <a:off x="8229600" y="365601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INTRODUCTION</a:t>
            </a:r>
          </a:p>
        </p:txBody>
      </p:sp>
      <p:sp>
        <p:nvSpPr>
          <p:cNvPr id="2179" name="Text Box 131"/>
          <p:cNvSpPr txBox="1">
            <a:spLocks noChangeArrowheads="1"/>
          </p:cNvSpPr>
          <p:nvPr/>
        </p:nvSpPr>
        <p:spPr bwMode="auto">
          <a:xfrm>
            <a:off x="8167509" y="9721204"/>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METHODOLOGIES</a:t>
            </a:r>
          </a:p>
        </p:txBody>
      </p:sp>
      <p:sp>
        <p:nvSpPr>
          <p:cNvPr id="2181" name="Text Box 133"/>
          <p:cNvSpPr txBox="1">
            <a:spLocks noChangeArrowheads="1"/>
          </p:cNvSpPr>
          <p:nvPr/>
        </p:nvSpPr>
        <p:spPr bwMode="auto">
          <a:xfrm>
            <a:off x="32004000" y="13873877"/>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CONCLUSIONS</a:t>
            </a:r>
          </a:p>
        </p:txBody>
      </p:sp>
      <p:sp>
        <p:nvSpPr>
          <p:cNvPr id="2182" name="Text Box 134"/>
          <p:cNvSpPr txBox="1">
            <a:spLocks noChangeArrowheads="1"/>
          </p:cNvSpPr>
          <p:nvPr/>
        </p:nvSpPr>
        <p:spPr bwMode="auto">
          <a:xfrm>
            <a:off x="32004000" y="365601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anose="020F0502020204030204" pitchFamily="34" charset="0"/>
                <a:cs typeface="Calibri" panose="020F0502020204030204" pitchFamily="34" charset="0"/>
              </a:rPr>
              <a:t>STANDARDS</a:t>
            </a:r>
            <a:r>
              <a:rPr lang="en-US" sz="4000" b="1" dirty="0">
                <a:latin typeface="Calibri" panose="020F0502020204030204" pitchFamily="34" charset="0"/>
                <a:ea typeface="Verdana" panose="020B0604030504040204" pitchFamily="34" charset="0"/>
                <a:cs typeface="Calibri" panose="020F0502020204030204" pitchFamily="34" charset="0"/>
              </a:rPr>
              <a:t> AND POLICIES</a:t>
            </a:r>
          </a:p>
        </p:txBody>
      </p:sp>
      <p:sp>
        <p:nvSpPr>
          <p:cNvPr id="2183" name="Text Box 135"/>
          <p:cNvSpPr txBox="1">
            <a:spLocks noChangeArrowheads="1"/>
          </p:cNvSpPr>
          <p:nvPr/>
        </p:nvSpPr>
        <p:spPr bwMode="auto">
          <a:xfrm>
            <a:off x="20116800" y="3657600"/>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RESULTS</a:t>
            </a:r>
          </a:p>
        </p:txBody>
      </p:sp>
      <p:sp>
        <p:nvSpPr>
          <p:cNvPr id="2184" name="Text Box 136"/>
          <p:cNvSpPr txBox="1">
            <a:spLocks noChangeArrowheads="1"/>
          </p:cNvSpPr>
          <p:nvPr/>
        </p:nvSpPr>
        <p:spPr bwMode="auto">
          <a:xfrm>
            <a:off x="32004000" y="1756374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a:solidFill>
                  <a:schemeClr val="accent1">
                    <a:lumMod val="50000"/>
                  </a:schemeClr>
                </a:solidFill>
                <a:latin typeface="Calibri" pitchFamily="34" charset="0"/>
              </a:rPr>
              <a:t>ACKNOWLEDGEMENT</a:t>
            </a:r>
            <a:endParaRPr lang="en-US" sz="4000" b="1" dirty="0">
              <a:solidFill>
                <a:schemeClr val="accent1">
                  <a:lumMod val="50000"/>
                </a:schemeClr>
              </a:solidFill>
              <a:latin typeface="Calibri" pitchFamily="34" charset="0"/>
            </a:endParaRPr>
          </a:p>
        </p:txBody>
      </p:sp>
      <p:sp>
        <p:nvSpPr>
          <p:cNvPr id="2230" name="Text Box 182"/>
          <p:cNvSpPr txBox="1">
            <a:spLocks noChangeArrowheads="1"/>
          </p:cNvSpPr>
          <p:nvPr/>
        </p:nvSpPr>
        <p:spPr bwMode="auto">
          <a:xfrm>
            <a:off x="685800" y="3656013"/>
            <a:ext cx="594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dirty="0">
                <a:solidFill>
                  <a:schemeClr val="bg1"/>
                </a:solidFill>
                <a:latin typeface="Calibri" pitchFamily="34" charset="0"/>
              </a:rPr>
              <a:t>ABSTRACT</a:t>
            </a:r>
          </a:p>
        </p:txBody>
      </p:sp>
      <p:sp>
        <p:nvSpPr>
          <p:cNvPr id="2231" name="Text Box 183"/>
          <p:cNvSpPr txBox="1">
            <a:spLocks noChangeArrowheads="1"/>
          </p:cNvSpPr>
          <p:nvPr/>
        </p:nvSpPr>
        <p:spPr bwMode="auto">
          <a:xfrm>
            <a:off x="388938" y="16080938"/>
            <a:ext cx="594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dirty="0">
                <a:solidFill>
                  <a:schemeClr val="bg1"/>
                </a:solidFill>
                <a:latin typeface="Calibri" pitchFamily="34" charset="0"/>
              </a:rPr>
              <a:t>TEAM MEMBER DETAILS</a:t>
            </a:r>
          </a:p>
        </p:txBody>
      </p:sp>
      <p:sp>
        <p:nvSpPr>
          <p:cNvPr id="2241" name="Text Box 193"/>
          <p:cNvSpPr txBox="1">
            <a:spLocks noChangeArrowheads="1"/>
          </p:cNvSpPr>
          <p:nvPr/>
        </p:nvSpPr>
        <p:spPr bwMode="auto">
          <a:xfrm>
            <a:off x="685800" y="16995338"/>
            <a:ext cx="5943600" cy="4401205"/>
          </a:xfrm>
          <a:prstGeom prst="rect">
            <a:avLst/>
          </a:prstGeom>
          <a:solidFill>
            <a:schemeClr val="accent1">
              <a:lumMod val="75000"/>
            </a:schemeClr>
          </a:solidFill>
          <a:ln>
            <a:noFill/>
          </a:ln>
          <a:effectLst/>
        </p:spPr>
        <p:txBody>
          <a:bodyPr lIns="228600" tIns="228600" rIns="228600" bIns="228600">
            <a:spAutoFit/>
          </a:bodyPr>
          <a:lstStyle/>
          <a:p>
            <a:r>
              <a:rPr lang="en-US" sz="3200" dirty="0">
                <a:solidFill>
                  <a:schemeClr val="bg1"/>
                </a:solidFill>
                <a:latin typeface="Calibri" pitchFamily="34" charset="0"/>
              </a:rPr>
              <a:t>&lt;S. Adi Kesava Reddy (VTU25083)&gt;</a:t>
            </a:r>
          </a:p>
          <a:p>
            <a:r>
              <a:rPr lang="en-US" sz="3200" dirty="0">
                <a:solidFill>
                  <a:schemeClr val="bg1"/>
                </a:solidFill>
                <a:latin typeface="Calibri" pitchFamily="34" charset="0"/>
              </a:rPr>
              <a:t>&lt;CH. Chandra Lasya (VTU26339)&gt;</a:t>
            </a:r>
          </a:p>
          <a:p>
            <a:r>
              <a:rPr lang="en-US" sz="3200" dirty="0">
                <a:solidFill>
                  <a:schemeClr val="bg1"/>
                </a:solidFill>
                <a:latin typeface="Calibri" pitchFamily="34" charset="0"/>
              </a:rPr>
              <a:t>&lt;7981195980&gt;</a:t>
            </a:r>
          </a:p>
          <a:p>
            <a:r>
              <a:rPr lang="en-US" sz="3200" dirty="0">
                <a:solidFill>
                  <a:schemeClr val="bg1"/>
                </a:solidFill>
                <a:latin typeface="Calibri" pitchFamily="34" charset="0"/>
              </a:rPr>
              <a:t>&lt;9666593721&gt;</a:t>
            </a:r>
          </a:p>
          <a:p>
            <a:r>
              <a:rPr lang="en-US" sz="3200" dirty="0">
                <a:solidFill>
                  <a:schemeClr val="bg1"/>
                </a:solidFill>
                <a:latin typeface="Calibri" pitchFamily="34" charset="0"/>
              </a:rPr>
              <a:t>&lt;singamadi2006@gmail.com&gt;</a:t>
            </a:r>
          </a:p>
          <a:p>
            <a:r>
              <a:rPr lang="en-US" sz="3200" dirty="0">
                <a:solidFill>
                  <a:schemeClr val="bg1"/>
                </a:solidFill>
                <a:latin typeface="Calibri" pitchFamily="34" charset="0"/>
              </a:rPr>
              <a:t>&lt;chandralasya24@gmail.com&gt;</a:t>
            </a:r>
          </a:p>
        </p:txBody>
      </p:sp>
      <p:sp>
        <p:nvSpPr>
          <p:cNvPr id="2242" name="Text Box 194"/>
          <p:cNvSpPr txBox="1">
            <a:spLocks noChangeArrowheads="1"/>
          </p:cNvSpPr>
          <p:nvPr/>
        </p:nvSpPr>
        <p:spPr bwMode="auto">
          <a:xfrm>
            <a:off x="685800" y="4570413"/>
            <a:ext cx="5943600" cy="9694962"/>
          </a:xfrm>
          <a:prstGeom prst="rect">
            <a:avLst/>
          </a:prstGeom>
          <a:solidFill>
            <a:schemeClr val="accent1">
              <a:lumMod val="75000"/>
            </a:schemeClr>
          </a:solidFill>
          <a:ln>
            <a:noFill/>
          </a:ln>
          <a:effectLst/>
        </p:spPr>
        <p:txBody>
          <a:bodyPr lIns="228600" tIns="228600" rIns="228600" bIns="228600">
            <a:spAutoFit/>
          </a:bodyPr>
          <a:lstStyle/>
          <a:p>
            <a:pPr algn="just" eaLnBrk="1" hangingPunct="1"/>
            <a:r>
              <a:rPr lang="en-US" dirty="0">
                <a:solidFill>
                  <a:schemeClr val="bg1"/>
                </a:solidFill>
              </a:rPr>
              <a:t>The </a:t>
            </a:r>
            <a:r>
              <a:rPr lang="en-US" i="1" dirty="0">
                <a:solidFill>
                  <a:schemeClr val="bg1"/>
                </a:solidFill>
              </a:rPr>
              <a:t>Authentic News Verification System</a:t>
            </a:r>
            <a:r>
              <a:rPr lang="en-US" dirty="0">
                <a:solidFill>
                  <a:schemeClr val="bg1"/>
                </a:solidFill>
              </a:rPr>
              <a:t> is an AI-driven platform designed to combat the spread of misinformation by automatically fetching, verifying, and publishing credible news articles. The system integrates multiple RSS feeds, processes them through an AI-based verification engine, and assigns a credibility score based on content accuracy and source reliability. Verified articles are then categorized and displayed through a secure Django web interface, enhanced with real-time weather updates and search functionality. Workflow automation using Zapier ensures continuous data collection and email notifications for subscribed users. By combining automation, artificial intelligence, and ethical data handling, the project establishes a reliable and scalable framework for delivering authentic news to users while minimizing human bias and manual effort.</a:t>
            </a:r>
            <a:endParaRPr lang="en-US" dirty="0">
              <a:solidFill>
                <a:schemeClr val="bg1"/>
              </a:solidFill>
              <a:latin typeface="Calibri" pitchFamily="34" charset="0"/>
            </a:endParaRPr>
          </a:p>
        </p:txBody>
      </p:sp>
      <p:sp>
        <p:nvSpPr>
          <p:cNvPr id="2243" name="Text Box 195"/>
          <p:cNvSpPr txBox="1">
            <a:spLocks noChangeArrowheads="1"/>
          </p:cNvSpPr>
          <p:nvPr/>
        </p:nvSpPr>
        <p:spPr bwMode="auto">
          <a:xfrm>
            <a:off x="20116800" y="4570413"/>
            <a:ext cx="10969625" cy="3693319"/>
          </a:xfrm>
          <a:prstGeom prst="rect">
            <a:avLst/>
          </a:prstGeom>
          <a:solidFill>
            <a:schemeClr val="bg1"/>
          </a:solidFill>
          <a:ln>
            <a:noFill/>
          </a:ln>
          <a:effectLst/>
        </p:spPr>
        <p:txBody>
          <a:bodyPr lIns="182880" tIns="182880" rIns="182880" bIns="182880">
            <a:spAutoFit/>
          </a:bodyPr>
          <a:lstStyle/>
          <a:p>
            <a:pPr algn="just" eaLnBrk="1" hangingPunct="1"/>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Authentic News Verification System</a:t>
            </a:r>
            <a:r>
              <a:rPr lang="en-US" dirty="0">
                <a:latin typeface="Times New Roman" panose="02020603050405020304" pitchFamily="18" charset="0"/>
                <a:cs typeface="Times New Roman" panose="02020603050405020304" pitchFamily="18" charset="0"/>
              </a:rPr>
              <a:t> successfully automates the process of fetching, verifying, and publishing credible news articles in real time. The integration of AI-based fact-checking ensures that only authentic information with a high credibility score is displayed to users. The Django web interface efficiently categorizes news and enhances accessibility through features like search and weather widgets. Workflow automation via Zapier enables seamless data flow between modules without manual intervention. Subscribers receive instant email alerts when new verified articles are published. Overall, the system achieves its goal of delivering a transparent, reliable, and user-centric verified news platform.</a:t>
            </a:r>
          </a:p>
        </p:txBody>
      </p:sp>
      <p:sp>
        <p:nvSpPr>
          <p:cNvPr id="2244" name="Text Box 196"/>
          <p:cNvSpPr txBox="1">
            <a:spLocks noChangeArrowheads="1"/>
          </p:cNvSpPr>
          <p:nvPr/>
        </p:nvSpPr>
        <p:spPr bwMode="auto">
          <a:xfrm>
            <a:off x="32004000" y="4570413"/>
            <a:ext cx="10969625" cy="2585323"/>
          </a:xfrm>
          <a:prstGeom prst="rect">
            <a:avLst/>
          </a:prstGeom>
          <a:solidFill>
            <a:schemeClr val="bg1"/>
          </a:solidFill>
          <a:ln>
            <a:noFill/>
          </a:ln>
          <a:effectLst/>
        </p:spPr>
        <p:txBody>
          <a:bodyPr lIns="182880" tIns="182880" rIns="182880" bIns="182880">
            <a:spAutoFit/>
          </a:bodyPr>
          <a:lstStyle/>
          <a:p>
            <a:pPr lvl="0" algn="just">
              <a:spcBef>
                <a:spcPts val="0"/>
              </a:spcBef>
              <a:spcAft>
                <a:spcPts val="0"/>
              </a:spcAft>
              <a:buClr>
                <a:schemeClr val="dk1"/>
              </a:buClr>
              <a:buSzPts val="1100"/>
            </a:pPr>
            <a:r>
              <a:rPr lang="en-US" b="1" dirty="0"/>
              <a:t>Web Application Security Standard:</a:t>
            </a:r>
            <a:r>
              <a:rPr lang="en-US" dirty="0"/>
              <a:t> OWASP Top 10 (2023) — Applied to protect the Django web application against threats such as SQL injection, XSS, and CSRF attacks.</a:t>
            </a:r>
          </a:p>
          <a:p>
            <a:pPr lvl="0" algn="just">
              <a:spcBef>
                <a:spcPts val="0"/>
              </a:spcBef>
              <a:spcAft>
                <a:spcPts val="0"/>
              </a:spcAft>
              <a:buClr>
                <a:schemeClr val="dk1"/>
              </a:buClr>
              <a:buSzPts val="1100"/>
            </a:pPr>
            <a:r>
              <a:rPr lang="en-US" b="1" dirty="0"/>
              <a:t>Python Standard Used:</a:t>
            </a:r>
            <a:r>
              <a:rPr lang="en-US" dirty="0"/>
              <a:t> ISO/IEC WD TR 24772-4 — Ensures code reliability, safety, and prevention of common software vulnerabilities in Python-based applications.</a:t>
            </a:r>
            <a:endParaRPr lang="en-US" dirty="0">
              <a:solidFill>
                <a:prstClr val="black"/>
              </a:solidFill>
              <a:latin typeface="Calibri" pitchFamily="34" charset="0"/>
            </a:endParaRPr>
          </a:p>
        </p:txBody>
      </p:sp>
      <p:sp>
        <p:nvSpPr>
          <p:cNvPr id="2245" name="Text Box 197"/>
          <p:cNvSpPr txBox="1">
            <a:spLocks noChangeArrowheads="1"/>
          </p:cNvSpPr>
          <p:nvPr/>
        </p:nvSpPr>
        <p:spPr bwMode="auto">
          <a:xfrm>
            <a:off x="8229600" y="11279624"/>
            <a:ext cx="10969625" cy="9971961"/>
          </a:xfrm>
          <a:prstGeom prst="rect">
            <a:avLst/>
          </a:prstGeom>
          <a:solidFill>
            <a:schemeClr val="bg1"/>
          </a:solidFill>
          <a:ln>
            <a:noFill/>
          </a:ln>
          <a:effectLst/>
        </p:spPr>
        <p:txBody>
          <a:bodyPr wrap="square" lIns="182880" tIns="182880" rIns="182880" bIns="182880">
            <a:spAutoFit/>
          </a:bodyPr>
          <a:lstStyle/>
          <a:p>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Authentic News Verification System </a:t>
            </a:r>
            <a:r>
              <a:rPr lang="en-US" dirty="0">
                <a:latin typeface="Times New Roman" panose="02020603050405020304" pitchFamily="18" charset="0"/>
                <a:cs typeface="Times New Roman" panose="02020603050405020304" pitchFamily="18" charset="0"/>
              </a:rPr>
              <a:t>follows a multi-layered and systematic approach that combines artificial intelligence, workflow automation, and web technologies. The methodologies used in this project are as follows:</a:t>
            </a:r>
          </a:p>
          <a:p>
            <a:r>
              <a:rPr lang="en-IN" b="1" dirty="0">
                <a:latin typeface="Times New Roman" panose="02020603050405020304" pitchFamily="18" charset="0"/>
                <a:cs typeface="Times New Roman" panose="02020603050405020304" pitchFamily="18" charset="0"/>
              </a:rPr>
              <a:t>News Data Collection:</a:t>
            </a:r>
          </a:p>
          <a:p>
            <a:r>
              <a:rPr lang="en-US" dirty="0">
                <a:latin typeface="Times New Roman" panose="02020603050405020304" pitchFamily="18" charset="0"/>
                <a:cs typeface="Times New Roman" panose="02020603050405020304" pitchFamily="18" charset="0"/>
              </a:rPr>
              <a:t>The system gathers real-time news articles from multiple trusted RSS feeds such as BBC, The Hindu, TechCrunch, and others, ensuring a diverse and up-to-date dataset for analysis.</a:t>
            </a:r>
          </a:p>
          <a:p>
            <a:r>
              <a:rPr lang="en-IN" b="1" dirty="0">
                <a:latin typeface="Times New Roman" panose="02020603050405020304" pitchFamily="18" charset="0"/>
                <a:cs typeface="Times New Roman" panose="02020603050405020304" pitchFamily="18" charset="0"/>
              </a:rPr>
              <a:t>Data Cleaning and Preprocessing:</a:t>
            </a:r>
          </a:p>
          <a:p>
            <a:r>
              <a:rPr lang="en-US" dirty="0">
                <a:latin typeface="Times New Roman" panose="02020603050405020304" pitchFamily="18" charset="0"/>
                <a:cs typeface="Times New Roman" panose="02020603050405020304" pitchFamily="18" charset="0"/>
              </a:rPr>
              <a:t>The collected articles are filtered to remove duplicates, unwanted metadata, and formatting inconsistencies, ensuring only clean, relevant text proceeds for verification.</a:t>
            </a:r>
          </a:p>
          <a:p>
            <a:r>
              <a:rPr lang="en-IN" b="1" dirty="0">
                <a:latin typeface="Times New Roman" panose="02020603050405020304" pitchFamily="18" charset="0"/>
                <a:cs typeface="Times New Roman" panose="02020603050405020304" pitchFamily="18" charset="0"/>
              </a:rPr>
              <a:t>AI-Based News Verification:</a:t>
            </a:r>
          </a:p>
          <a:p>
            <a:r>
              <a:rPr lang="en-US" dirty="0">
                <a:latin typeface="Times New Roman" panose="02020603050405020304" pitchFamily="18" charset="0"/>
                <a:cs typeface="Times New Roman" panose="02020603050405020304" pitchFamily="18" charset="0"/>
              </a:rPr>
              <a:t>A Large Language Model (LLM) integrated through n8n performs automated fact-checking using </a:t>
            </a:r>
            <a:r>
              <a:rPr lang="en-US" dirty="0" err="1">
                <a:latin typeface="Times New Roman" panose="02020603050405020304" pitchFamily="18" charset="0"/>
                <a:cs typeface="Times New Roman" panose="02020603050405020304" pitchFamily="18" charset="0"/>
              </a:rPr>
              <a:t>SerpAPI</a:t>
            </a:r>
            <a:r>
              <a:rPr lang="en-US" dirty="0">
                <a:latin typeface="Times New Roman" panose="02020603050405020304" pitchFamily="18" charset="0"/>
                <a:cs typeface="Times New Roman" panose="02020603050405020304" pitchFamily="18" charset="0"/>
              </a:rPr>
              <a:t>, cross-verifying article claims across the web and generating a credibility score and verification notes.</a:t>
            </a:r>
          </a:p>
          <a:p>
            <a:r>
              <a:rPr lang="en-IN" b="1" dirty="0">
                <a:latin typeface="Times New Roman" panose="02020603050405020304" pitchFamily="18" charset="0"/>
                <a:cs typeface="Times New Roman" panose="02020603050405020304" pitchFamily="18" charset="0"/>
              </a:rPr>
              <a:t>Automated Workflow Execution:</a:t>
            </a:r>
            <a:br>
              <a:rPr lang="en-IN"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entire process — from data collection to verification and API posting — is automated using workflow tools like n8n and Zapier, enabling real-time, hands-free operation.</a:t>
            </a:r>
          </a:p>
          <a:p>
            <a:r>
              <a:rPr lang="en-US" b="1" dirty="0">
                <a:latin typeface="Times New Roman" panose="02020603050405020304" pitchFamily="18" charset="0"/>
                <a:cs typeface="Times New Roman" panose="02020603050405020304" pitchFamily="18" charset="0"/>
              </a:rPr>
              <a:t>Database Management and Categorization: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Verified articles are sent via POST API requests to the Django backend, where they are securely stored, categorized (e.g., Health, Business, Science), and updated in the database.</a:t>
            </a:r>
          </a:p>
          <a:p>
            <a:r>
              <a:rPr lang="en-US" b="1" dirty="0">
                <a:latin typeface="Times New Roman" panose="02020603050405020304" pitchFamily="18" charset="0"/>
                <a:cs typeface="Times New Roman" panose="02020603050405020304" pitchFamily="18" charset="0"/>
              </a:rPr>
              <a:t>Frontend Display and Subscriber Notification: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Django-based frontend displays only verified news, while an integrated Gmail workflow automatically notifies subscribers of newly published authentic articles.</a:t>
            </a:r>
          </a:p>
          <a:p>
            <a:endParaRPr lang="en-US" dirty="0">
              <a:latin typeface="Times New Roman" panose="02020603050405020304" pitchFamily="18" charset="0"/>
              <a:cs typeface="Times New Roman" panose="02020603050405020304" pitchFamily="18" charset="0"/>
            </a:endParaRPr>
          </a:p>
        </p:txBody>
      </p:sp>
      <p:sp>
        <p:nvSpPr>
          <p:cNvPr id="2246" name="Text Box 198"/>
          <p:cNvSpPr txBox="1">
            <a:spLocks noChangeArrowheads="1"/>
          </p:cNvSpPr>
          <p:nvPr/>
        </p:nvSpPr>
        <p:spPr bwMode="auto">
          <a:xfrm>
            <a:off x="32004000" y="14788277"/>
            <a:ext cx="10969625" cy="2585323"/>
          </a:xfrm>
          <a:prstGeom prst="rect">
            <a:avLst/>
          </a:prstGeom>
          <a:solidFill>
            <a:schemeClr val="bg1"/>
          </a:solidFill>
          <a:ln>
            <a:noFill/>
          </a:ln>
          <a:effectLst/>
        </p:spPr>
        <p:txBody>
          <a:bodyPr lIns="182880" tIns="182880" rIns="182880" bIns="182880">
            <a:spAutoFit/>
          </a:bodyPr>
          <a:lstStyle/>
          <a:p>
            <a:pPr marL="101600" lvl="0" algn="just">
              <a:spcBef>
                <a:spcPts val="0"/>
              </a:spcBef>
              <a:spcAft>
                <a:spcPts val="0"/>
              </a:spcAft>
              <a:buSzPts val="2000"/>
            </a:pPr>
            <a:r>
              <a:rPr lang="en-US" dirty="0"/>
              <a:t>The </a:t>
            </a:r>
            <a:r>
              <a:rPr lang="en-US" i="1" dirty="0"/>
              <a:t>Authentic News Verification System</a:t>
            </a:r>
            <a:r>
              <a:rPr lang="en-US" dirty="0"/>
              <a:t> effectively demonstrates how AI and automation can combat digital misinformation through verified, credibility-scored news delivery. It ensures reliability, transparency, and real-time updates by integrating Django, n8n, and LLM-based verification. Overall, the system provides a scalable and trustworthy framework for promoting authentic information in the digital era.</a:t>
            </a:r>
            <a:endParaRPr lang="en-US" dirty="0">
              <a:latin typeface="Calibri"/>
              <a:ea typeface="Calibri"/>
              <a:cs typeface="Calibri"/>
              <a:sym typeface="Calibri"/>
            </a:endParaRPr>
          </a:p>
        </p:txBody>
      </p:sp>
      <p:sp>
        <p:nvSpPr>
          <p:cNvPr id="2247" name="Text Box 199"/>
          <p:cNvSpPr txBox="1">
            <a:spLocks noChangeArrowheads="1"/>
          </p:cNvSpPr>
          <p:nvPr/>
        </p:nvSpPr>
        <p:spPr bwMode="auto">
          <a:xfrm>
            <a:off x="8229600" y="4570413"/>
            <a:ext cx="10963273" cy="4801314"/>
          </a:xfrm>
          <a:prstGeom prst="rect">
            <a:avLst/>
          </a:prstGeom>
          <a:solidFill>
            <a:schemeClr val="bg1"/>
          </a:solidFill>
          <a:ln>
            <a:noFill/>
          </a:ln>
          <a:effectLst/>
        </p:spPr>
        <p:txBody>
          <a:bodyPr wrap="square" lIns="182880" tIns="182880" rIns="182880" bIns="182880">
            <a:spAutoFit/>
          </a:bodyPr>
          <a:lstStyle/>
          <a:p>
            <a:pPr algn="just"/>
            <a:r>
              <a:rPr lang="en-US" dirty="0">
                <a:latin typeface="Times New Roman" panose="02020603050405020304" pitchFamily="18" charset="0"/>
                <a:cs typeface="Times New Roman" panose="02020603050405020304" pitchFamily="18" charset="0"/>
              </a:rPr>
              <a:t>In today’s digital era, the rapid spread of misinformation poses a major threat to public awareness and trust in media. The </a:t>
            </a:r>
            <a:r>
              <a:rPr lang="en-US" i="1" dirty="0">
                <a:latin typeface="Times New Roman" panose="02020603050405020304" pitchFamily="18" charset="0"/>
                <a:cs typeface="Times New Roman" panose="02020603050405020304" pitchFamily="18" charset="0"/>
              </a:rPr>
              <a:t>Authentic News Verification System</a:t>
            </a:r>
            <a:r>
              <a:rPr lang="en-US" dirty="0">
                <a:latin typeface="Times New Roman" panose="02020603050405020304" pitchFamily="18" charset="0"/>
                <a:cs typeface="Times New Roman" panose="02020603050405020304" pitchFamily="18" charset="0"/>
              </a:rPr>
              <a:t> is designed to address this issue by integrating artificial intelligence with automated workflows to validate and publish only credible news. The system collects data from multiple RSS feeds and processes it through an AI verification engine that assigns credibility scores based on factual accuracy. Verified articles are stored in a centralized database and displayed through a secure, user-friendly Django interface. Automation tools such as Zapier and Google Sheets streamline data synchronization, email alerts, and system updates. The inclusion of real-time weather updates, search functionality, and category-based news organization enhances user engagement. This project demonstrates the potential of AI-powered automation in creating a transparent and trustworthy digital news ecosystem.</a:t>
            </a:r>
          </a:p>
        </p:txBody>
      </p:sp>
      <p:sp>
        <p:nvSpPr>
          <p:cNvPr id="2248" name="Text Box 200"/>
          <p:cNvSpPr txBox="1">
            <a:spLocks noChangeArrowheads="1"/>
          </p:cNvSpPr>
          <p:nvPr/>
        </p:nvSpPr>
        <p:spPr bwMode="auto">
          <a:xfrm>
            <a:off x="32004000" y="18478143"/>
            <a:ext cx="10969625" cy="2831544"/>
          </a:xfrm>
          <a:prstGeom prst="rect">
            <a:avLst/>
          </a:prstGeom>
          <a:solidFill>
            <a:schemeClr val="bg1"/>
          </a:solidFill>
          <a:ln>
            <a:noFill/>
          </a:ln>
          <a:effectLst/>
        </p:spPr>
        <p:txBody>
          <a:bodyPr lIns="182880" tIns="182880" rIns="182880" bIns="182880">
            <a:spAutoFit/>
          </a:bodyPr>
          <a:lstStyle>
            <a:lvl1pPr marL="457200" indent="-457200">
              <a:defRPr>
                <a:solidFill>
                  <a:schemeClr val="tx1"/>
                </a:solidFill>
                <a:latin typeface="Arial" charset="0"/>
              </a:defRPr>
            </a:lvl1pPr>
            <a:lvl2pPr marL="914400" indent="-342900">
              <a:defRPr>
                <a:solidFill>
                  <a:schemeClr val="tx1"/>
                </a:solidFill>
                <a:latin typeface="Arial" charset="0"/>
              </a:defRPr>
            </a:lvl2pPr>
            <a:lvl3pPr marL="1371600" indent="-342900">
              <a:defRPr>
                <a:solidFill>
                  <a:schemeClr val="tx1"/>
                </a:solidFill>
                <a:latin typeface="Arial" charset="0"/>
              </a:defRPr>
            </a:lvl3pPr>
            <a:lvl4pPr marL="1828800" indent="-342900">
              <a:defRPr>
                <a:solidFill>
                  <a:schemeClr val="tx1"/>
                </a:solidFill>
                <a:latin typeface="Arial" charset="0"/>
              </a:defRPr>
            </a:lvl4pPr>
            <a:lvl5pPr marL="2286000" indent="-342900">
              <a:defRPr>
                <a:solidFill>
                  <a:schemeClr val="tx1"/>
                </a:solidFill>
                <a:latin typeface="Arial" charset="0"/>
              </a:defRPr>
            </a:lvl5pPr>
            <a:lvl6pPr marL="2743200" indent="-342900" fontAlgn="base">
              <a:spcBef>
                <a:spcPct val="0"/>
              </a:spcBef>
              <a:spcAft>
                <a:spcPct val="0"/>
              </a:spcAft>
              <a:defRPr>
                <a:solidFill>
                  <a:schemeClr val="tx1"/>
                </a:solidFill>
                <a:latin typeface="Arial" charset="0"/>
              </a:defRPr>
            </a:lvl6pPr>
            <a:lvl7pPr marL="3200400" indent="-342900" fontAlgn="base">
              <a:spcBef>
                <a:spcPct val="0"/>
              </a:spcBef>
              <a:spcAft>
                <a:spcPct val="0"/>
              </a:spcAft>
              <a:defRPr>
                <a:solidFill>
                  <a:schemeClr val="tx1"/>
                </a:solidFill>
                <a:latin typeface="Arial" charset="0"/>
              </a:defRPr>
            </a:lvl7pPr>
            <a:lvl8pPr marL="3657600" indent="-342900" fontAlgn="base">
              <a:spcBef>
                <a:spcPct val="0"/>
              </a:spcBef>
              <a:spcAft>
                <a:spcPct val="0"/>
              </a:spcAft>
              <a:defRPr>
                <a:solidFill>
                  <a:schemeClr val="tx1"/>
                </a:solidFill>
                <a:latin typeface="Arial" charset="0"/>
              </a:defRPr>
            </a:lvl8pPr>
            <a:lvl9pPr marL="4114800" indent="-342900" fontAlgn="base">
              <a:spcBef>
                <a:spcPct val="0"/>
              </a:spcBef>
              <a:spcAft>
                <a:spcPct val="0"/>
              </a:spcAft>
              <a:defRPr>
                <a:solidFill>
                  <a:schemeClr val="tx1"/>
                </a:solidFill>
                <a:latin typeface="Arial" charset="0"/>
              </a:defRPr>
            </a:lvl9pPr>
          </a:lstStyle>
          <a:p>
            <a:pPr>
              <a:spcAft>
                <a:spcPct val="50000"/>
              </a:spcAft>
              <a:buFontTx/>
              <a:buAutoNum type="arabicPeriod"/>
            </a:pPr>
            <a:r>
              <a:rPr lang="en-US" sz="3200" dirty="0">
                <a:latin typeface="Calibri" pitchFamily="34" charset="0"/>
              </a:rPr>
              <a:t>Dr. M. </a:t>
            </a:r>
            <a:r>
              <a:rPr lang="en-US" sz="3200" dirty="0" err="1">
                <a:latin typeface="Calibri" pitchFamily="34" charset="0"/>
              </a:rPr>
              <a:t>Dhilsath</a:t>
            </a:r>
            <a:r>
              <a:rPr lang="en-US" sz="3200" dirty="0">
                <a:latin typeface="Calibri" pitchFamily="34" charset="0"/>
              </a:rPr>
              <a:t> Fathima, B.E., M.E., Ph.D.. ASSOCIATE PROFESSOR</a:t>
            </a:r>
          </a:p>
          <a:p>
            <a:pPr>
              <a:spcAft>
                <a:spcPct val="50000"/>
              </a:spcAft>
              <a:buFontTx/>
              <a:buAutoNum type="arabicPeriod"/>
            </a:pPr>
            <a:r>
              <a:rPr lang="en-US" sz="3200" dirty="0">
                <a:latin typeface="Calibri" pitchFamily="34" charset="0"/>
              </a:rPr>
              <a:t>8668122854</a:t>
            </a:r>
          </a:p>
          <a:p>
            <a:pPr>
              <a:spcAft>
                <a:spcPct val="50000"/>
              </a:spcAft>
              <a:buFontTx/>
              <a:buAutoNum type="arabicPeriod"/>
            </a:pPr>
            <a:r>
              <a:rPr lang="en-US" sz="3200" dirty="0">
                <a:latin typeface="Calibri" pitchFamily="34" charset="0"/>
              </a:rPr>
              <a:t>drdhilsathfathimam@veltech.edu.in</a:t>
            </a:r>
          </a:p>
        </p:txBody>
      </p:sp>
      <p:sp>
        <p:nvSpPr>
          <p:cNvPr id="67" name="Text Box 241"/>
          <p:cNvSpPr txBox="1">
            <a:spLocks noChangeArrowheads="1"/>
          </p:cNvSpPr>
          <p:nvPr/>
        </p:nvSpPr>
        <p:spPr bwMode="auto">
          <a:xfrm>
            <a:off x="20116800" y="9982200"/>
            <a:ext cx="169330" cy="392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endParaRPr lang="en-US" sz="2000" dirty="0">
              <a:solidFill>
                <a:schemeClr val="accent1">
                  <a:lumMod val="50000"/>
                </a:schemeClr>
              </a:solidFill>
              <a:latin typeface="Calibri" pitchFamily="34" charset="0"/>
            </a:endParaRPr>
          </a:p>
        </p:txBody>
      </p:sp>
      <p:pic>
        <p:nvPicPr>
          <p:cNvPr id="30" name="image1.jpeg">
            <a:extLst>
              <a:ext uri="{FF2B5EF4-FFF2-40B4-BE49-F238E27FC236}">
                <a16:creationId xmlns:a16="http://schemas.microsoft.com/office/drawing/2014/main" id="{CF9C150D-A562-4D95-8D95-ECA9A6CA5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638" y="698463"/>
            <a:ext cx="3886200" cy="1769052"/>
          </a:xfrm>
          <a:prstGeom prst="rect">
            <a:avLst/>
          </a:prstGeom>
        </p:spPr>
      </p:pic>
      <p:sp>
        <p:nvSpPr>
          <p:cNvPr id="9" name="Rectangle 5">
            <a:extLst>
              <a:ext uri="{FF2B5EF4-FFF2-40B4-BE49-F238E27FC236}">
                <a16:creationId xmlns:a16="http://schemas.microsoft.com/office/drawing/2014/main" id="{5F5EDE50-99E1-06AD-EF27-7A243EC811F7}"/>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1" name="Picture 20">
            <a:extLst>
              <a:ext uri="{FF2B5EF4-FFF2-40B4-BE49-F238E27FC236}">
                <a16:creationId xmlns:a16="http://schemas.microsoft.com/office/drawing/2014/main" id="{EED8437F-1672-CD25-6A9D-8F1CFF8EE1A0}"/>
              </a:ext>
            </a:extLst>
          </p:cNvPr>
          <p:cNvPicPr>
            <a:picLocks noChangeAspect="1"/>
          </p:cNvPicPr>
          <p:nvPr/>
        </p:nvPicPr>
        <p:blipFill>
          <a:blip r:embed="rId3"/>
          <a:stretch>
            <a:fillRect/>
          </a:stretch>
        </p:blipFill>
        <p:spPr>
          <a:xfrm>
            <a:off x="20140928" y="8839200"/>
            <a:ext cx="10912714" cy="6287377"/>
          </a:xfrm>
          <a:prstGeom prst="rect">
            <a:avLst/>
          </a:prstGeom>
        </p:spPr>
      </p:pic>
      <p:pic>
        <p:nvPicPr>
          <p:cNvPr id="26" name="Picture 25">
            <a:extLst>
              <a:ext uri="{FF2B5EF4-FFF2-40B4-BE49-F238E27FC236}">
                <a16:creationId xmlns:a16="http://schemas.microsoft.com/office/drawing/2014/main" id="{2AD4397A-D4C8-EE38-C22E-EF27D1FF49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95345" y="7860151"/>
            <a:ext cx="10912714" cy="5690948"/>
          </a:xfrm>
          <a:prstGeom prst="rect">
            <a:avLst/>
          </a:prstGeom>
        </p:spPr>
      </p:pic>
      <p:pic>
        <p:nvPicPr>
          <p:cNvPr id="28" name="Picture 27">
            <a:extLst>
              <a:ext uri="{FF2B5EF4-FFF2-40B4-BE49-F238E27FC236}">
                <a16:creationId xmlns:a16="http://schemas.microsoft.com/office/drawing/2014/main" id="{D15F8E37-AD6B-07E6-61D1-86753671FB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084018" y="15702045"/>
            <a:ext cx="10969624" cy="5786355"/>
          </a:xfrm>
          <a:prstGeom prst="rect">
            <a:avLst/>
          </a:prstGeom>
        </p:spPr>
      </p:pic>
    </p:spTree>
  </p:cSld>
  <p:clrMapOvr>
    <a:masterClrMapping/>
  </p:clrMapOvr>
</p:sld>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1807</TotalTime>
  <Words>846</Words>
  <Application>Microsoft Office PowerPoint</Application>
  <PresentationFormat>Custom</PresentationFormat>
  <Paragraphs>38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Verdana</vt:lpstr>
      <vt:lpstr>Default Design</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24x48</dc:title>
  <dc:creator>Ashok Vijay</dc:creator>
  <dc:description>To order poster prints visit us at www.genigraphics.com</dc:description>
  <cp:lastModifiedBy>Chandra lasya</cp:lastModifiedBy>
  <cp:revision>61</cp:revision>
  <dcterms:created xsi:type="dcterms:W3CDTF">2008-05-03T03:01:56Z</dcterms:created>
  <dcterms:modified xsi:type="dcterms:W3CDTF">2025-11-07T12:25:07Z</dcterms:modified>
</cp:coreProperties>
</file>